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  <p:sldId id="260" r:id="rId13"/>
    <p:sldId id="261" r:id="rId14"/>
    <p:sldId id="262" r:id="rId15"/>
    <p:sldId id="263" r:id="rId16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2.xml" Type="http://schemas.openxmlformats.org/officeDocument/2006/relationships/notesSlide"/><Relationship Id="rId18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查表之前先用「删除重复值」确认学号唯一；查找区域加 $ 锁定，避免拖动时整体偏移。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mtClean="0"/>
              <a:t>Click to edit Master text styles</a:t>
            </a:r>
          </a:p>
          <a:p>
            <a:pPr marL="457200"/>
            <a:r>
              <a:rPr lang="en-US" smtClean="0"/>
              <a:t>Second level</a:t>
            </a:r>
          </a:p>
          <a:p>
            <a:pPr marL="914400"/>
            <a:r>
              <a:rPr lang="en-US" smtClean="0"/>
              <a:t>Third level</a:t>
            </a:r>
          </a:p>
          <a:p>
            <a:pPr marL="1371600"/>
            <a:r>
              <a:rPr lang="en-US" smtClean="0"/>
              <a:t>Fourth level</a:t>
            </a:r>
          </a:p>
          <a:p>
            <a:pPr marL="1828800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评分标准：统计结果正确 40 分；必须用函数计算、手工输入结果不得分 30 分；图表与格式规范 20 分；文件命名与按时提交 10 分。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mtClean="0"/>
              <a:t>Click to edit Master text styles</a:t>
            </a:r>
          </a:p>
          <a:p>
            <a:pPr marL="457200"/>
            <a:r>
              <a:rPr lang="en-US" smtClean="0"/>
              <a:t>Second level</a:t>
            </a:r>
          </a:p>
          <a:p>
            <a:pPr marL="914400"/>
            <a:r>
              <a:rPr lang="en-US" smtClean="0"/>
              <a:t>Third level</a:t>
            </a:r>
          </a:p>
          <a:p>
            <a:pPr marL="1371600"/>
            <a:r>
              <a:rPr lang="en-US" smtClean="0"/>
              <a:t>Fourth level</a:t>
            </a:r>
          </a:p>
          <a:p>
            <a:pPr marL="1828800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第2讲  Excel 函数与图表</a:t>
            </a:r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大学计算机基础（一） · 2025级计算机类201班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本讲目标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会用相对引用、绝对引用和跨表引用，避免公式拖动后结果错位</a:t>
            </a:r>
          </a:p>
          <a:p>
            <a:r>
              <a:rPr lang="en-US"/>
              <a:t>能用 VLOOKUP / IF / COUNTIF / SUMIF / RANK 完成成绩统计</a:t>
            </a:r>
          </a:p>
          <a:p>
            <a:r>
              <a:rPr lang="en-US"/>
              <a:t>能按数据特点选对图表：柱状图比大小、折线图看趋势、饼图看占比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一、单元格引用（公式里最容易错的地方）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相对引用 A1：公式往右/往下拖动时，行列会跟着变</a:t>
            </a:r>
          </a:p>
          <a:p>
            <a:r>
              <a:rPr lang="en-US"/>
              <a:t>绝对引用 $A$1：拖动时行列都不变，按 F4 可快速切换</a:t>
            </a:r>
          </a:p>
          <a:p>
            <a:r>
              <a:rPr lang="en-US"/>
              <a:t>混合引用 A$1 或 $A1：只锁定行或只锁定列</a:t>
            </a:r>
          </a:p>
          <a:p>
            <a:r>
              <a:rPr lang="en-US"/>
              <a:t>跨工作表引用：表名!A1，例如 成绩表!C2；表名含空格时写成 '期末 成绩'!C2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二、VLOOKUP：按学号查姓名、查成绩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语法：=VLOOKUP(查找值, 查找区域, 返回列号, 匹配方式)</a:t>
            </a:r>
          </a:p>
          <a:p>
            <a:r>
              <a:rPr lang="en-US"/>
              <a:t>返回列号从查找区域的第 1 列开始数，不是从 A 列开始数</a:t>
            </a:r>
          </a:p>
          <a:p>
            <a:r>
              <a:rPr lang="en-US"/>
              <a:t>匹配方式写 0（或 FALSE）表示精确匹配，成绩查询一律用 0</a:t>
            </a:r>
          </a:p>
          <a:p>
            <a:r>
              <a:rPr lang="en-US"/>
              <a:t>查找值必须出现在查找区域的第 1 列，否则返回 #N/A</a:t>
            </a:r>
          </a:p>
          <a:p>
            <a:r>
              <a:rPr lang="en-US"/>
              <a:t>示例：=VLOOKUP(A2, 成绩表!$A$2:$D$51, 4, 0) 取回该学号的卷面成绩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三、IF 与 SUMIF：判断与条件求和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IF：=IF(条件, 条件成立时的值, 条件不成立时的值)，例 =IF(D2&gt;=60,"及格","不及格")</a:t>
            </a:r>
          </a:p>
          <a:p>
            <a:r>
              <a:rPr lang="en-US"/>
              <a:t>SUMIF：=SUMIF(条件区域, 条件, 求和区域)，例 =SUMIF(C2:C51,"&gt;=60",D2:D51)</a:t>
            </a:r>
          </a:p>
          <a:p>
            <a:r>
              <a:rPr lang="en-US"/>
              <a:t>条件要加英文双引号，如 "&gt;=60"、"计算机类201班"</a:t>
            </a:r>
          </a:p>
          <a:p>
            <a:r>
              <a:rPr lang="en-US"/>
              <a:t>文本条件支持通配符 * 和 ?，例如 "张*" 统计姓张的学生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四、常用统计函数速查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计数：=COUNTIF(B2:B51,"&gt;=90") 统计 90 分及以上人数</a:t>
            </a:r>
          </a:p>
          <a:p>
            <a:r>
              <a:rPr lang="en-US"/>
              <a:t>多条件计数：=COUNTIFS(B2:B51,"&gt;=80",B2:B51,"&lt;90")</a:t>
            </a:r>
          </a:p>
          <a:p>
            <a:r>
              <a:rPr lang="en-US"/>
              <a:t>平均分：=AVERAGE(D2:D51)，及格率：=COUNTIF(D2:D51,"&gt;=60")/COUNT(D2:D51)</a:t>
            </a:r>
          </a:p>
          <a:p>
            <a:r>
              <a:rPr lang="en-US"/>
              <a:t>排名：=RANK(D2,$D$2:$D$51)，第二个参数必须绝对引用</a:t>
            </a:r>
          </a:p>
          <a:p>
            <a:r>
              <a:rPr lang="en-US"/>
              <a:t>最高最低：=MAX(D2:D51) / =MIN(D2:D51)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五、图表怎么选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柱状图：比较不同类别的大小，例如各分数段人数</a:t>
            </a:r>
          </a:p>
          <a:p>
            <a:r>
              <a:rPr lang="en-US"/>
              <a:t>折线图：看随时间变化的趋势，例如每周作业提交率</a:t>
            </a:r>
          </a:p>
          <a:p>
            <a:r>
              <a:rPr lang="en-US"/>
              <a:t>饼图：看各部分占比，类别不超过 6 类，例如成绩等级分布</a:t>
            </a:r>
          </a:p>
          <a:p>
            <a:r>
              <a:rPr lang="en-US"/>
              <a:t>散点图：看两个变量的相关，例如平时成绩与卷面成绩</a:t>
            </a:r>
          </a:p>
          <a:p>
            <a:r>
              <a:rPr lang="en-US"/>
              <a:t>图表规范：要有标题、坐标轴名称、图例，不要直接把数据标签关掉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六、实验二布置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数据：成绩表.xlsx（学号、姓名、平时成绩、卷面成绩）</a:t>
            </a:r>
          </a:p>
          <a:p>
            <a:r>
              <a:rPr lang="en-US"/>
              <a:t>任务：算出总评（平时 40% + 卷面 60%）、统计 5 个分数段人数、算平均分与排名、做 1 张成绩分布柱状图</a:t>
            </a:r>
          </a:p>
          <a:p>
            <a:r>
              <a:rPr lang="en-US"/>
              <a:t>提交：文件命名 学号_姓名_实验二.xlsx，上传到学习平台「实验二」作业</a:t>
            </a:r>
          </a:p>
          <a:p>
            <a:r>
              <a:rPr lang="en-US"/>
              <a:t>截止：第 4 周周五 23:59，逾期不补交，计入课后作业 40 分中的第 1 次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七、公式报错对照表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#N/A：查找值不在查找区域第 1 列，或数据带空格、格式不一致</a:t>
            </a:r>
          </a:p>
          <a:p>
            <a:r>
              <a:rPr lang="en-US"/>
              <a:t>#REF!：公式引用的单元格或区域已被删除</a:t>
            </a:r>
          </a:p>
          <a:p>
            <a:r>
              <a:rPr lang="en-US"/>
              <a:t>#VALUE!：参数类型不对，例如把文本当数字参与计算</a:t>
            </a:r>
          </a:p>
          <a:p>
            <a:r>
              <a:rPr lang="en-US"/>
              <a:t>#DIV/0!：除数为 0 或分母为空，可用 IFERROR 包一层</a:t>
            </a:r>
          </a:p>
          <a:p>
            <a:r>
              <a:rPr lang="en-US"/>
              <a:t>#NAME?：函数名拼错，或使用了未加英文双引号的文本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